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26" y="5811459"/>
            <a:ext cx="13042748" cy="2823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26" y="6094758"/>
            <a:ext cx="453475" cy="63502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0621" y="6094758"/>
            <a:ext cx="2285216" cy="396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126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Author: Denis Bell</a:t>
            </a:r>
            <a:endParaRPr lang="en-US" sz="2233" dirty="0"/>
          </a:p>
        </p:txBody>
      </p:sp>
      <p:sp>
        <p:nvSpPr>
          <p:cNvPr id="7" name="Text 1"/>
          <p:cNvSpPr/>
          <p:nvPr/>
        </p:nvSpPr>
        <p:spPr>
          <a:xfrm>
            <a:off x="1360621" y="6491573"/>
            <a:ext cx="2285216" cy="238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Created with Pi</a:t>
            </a:r>
            <a:endParaRPr lang="en-US" sz="1340" dirty="0"/>
          </a:p>
        </p:txBody>
      </p:sp>
      <p:sp>
        <p:nvSpPr>
          <p:cNvPr id="8" name="Text 2"/>
          <p:cNvSpPr/>
          <p:nvPr/>
        </p:nvSpPr>
        <p:spPr>
          <a:xfrm>
            <a:off x="793826" y="3599764"/>
            <a:ext cx="13042748" cy="1956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7702"/>
              </a:lnSpc>
              <a:buNone/>
            </a:pPr>
            <a:r>
              <a:rPr lang="en-US" sz="6162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🚀 Azure Terraform Setup Guide (Backend + Key Vault + Pipeline)</a:t>
            </a:r>
            <a:endParaRPr lang="en-US" sz="616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826" y="1605493"/>
            <a:ext cx="13042748" cy="2823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26" y="7305985"/>
            <a:ext cx="13042748" cy="2823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3826" y="641688"/>
            <a:ext cx="13042748" cy="708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CONTENTS</a:t>
            </a:r>
            <a:endParaRPr lang="en-US" sz="4465" dirty="0"/>
          </a:p>
        </p:txBody>
      </p:sp>
      <p:sp>
        <p:nvSpPr>
          <p:cNvPr id="6" name="Text 1"/>
          <p:cNvSpPr/>
          <p:nvPr/>
        </p:nvSpPr>
        <p:spPr>
          <a:xfrm>
            <a:off x="806374" y="2127980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01</a:t>
            </a:r>
            <a:endParaRPr lang="en-US" sz="2233" dirty="0"/>
          </a:p>
        </p:txBody>
      </p:sp>
      <p:sp>
        <p:nvSpPr>
          <p:cNvPr id="7" name="Text 2"/>
          <p:cNvSpPr/>
          <p:nvPr/>
        </p:nvSpPr>
        <p:spPr>
          <a:xfrm>
            <a:off x="806374" y="2779862"/>
            <a:ext cx="3885220" cy="35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📋 Prerequisites</a:t>
            </a:r>
            <a:endParaRPr lang="en-US" sz="2233" dirty="0"/>
          </a:p>
        </p:txBody>
      </p:sp>
      <p:sp>
        <p:nvSpPr>
          <p:cNvPr id="8" name="Text 3"/>
          <p:cNvSpPr/>
          <p:nvPr/>
        </p:nvSpPr>
        <p:spPr>
          <a:xfrm>
            <a:off x="806374" y="3966779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04</a:t>
            </a:r>
            <a:endParaRPr lang="en-US" sz="2233" dirty="0"/>
          </a:p>
        </p:txBody>
      </p:sp>
      <p:sp>
        <p:nvSpPr>
          <p:cNvPr id="9" name="Text 4"/>
          <p:cNvSpPr/>
          <p:nvPr/>
        </p:nvSpPr>
        <p:spPr>
          <a:xfrm>
            <a:off x="806374" y="4618661"/>
            <a:ext cx="3885220" cy="70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🔌 Step 3: Create Service Connection</a:t>
            </a:r>
            <a:endParaRPr lang="en-US" sz="2233" dirty="0"/>
          </a:p>
        </p:txBody>
      </p:sp>
      <p:sp>
        <p:nvSpPr>
          <p:cNvPr id="10" name="Text 5"/>
          <p:cNvSpPr/>
          <p:nvPr/>
        </p:nvSpPr>
        <p:spPr>
          <a:xfrm>
            <a:off x="5371904" y="2127980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02</a:t>
            </a:r>
            <a:endParaRPr lang="en-US" sz="2233" dirty="0"/>
          </a:p>
        </p:txBody>
      </p:sp>
      <p:sp>
        <p:nvSpPr>
          <p:cNvPr id="11" name="Text 6"/>
          <p:cNvSpPr/>
          <p:nvPr/>
        </p:nvSpPr>
        <p:spPr>
          <a:xfrm>
            <a:off x="806374" y="5805577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07</a:t>
            </a:r>
            <a:endParaRPr lang="en-US" sz="2233" dirty="0"/>
          </a:p>
        </p:txBody>
      </p:sp>
      <p:sp>
        <p:nvSpPr>
          <p:cNvPr id="12" name="Text 7"/>
          <p:cNvSpPr/>
          <p:nvPr/>
        </p:nvSpPr>
        <p:spPr>
          <a:xfrm>
            <a:off x="5371904" y="2779862"/>
            <a:ext cx="3885220" cy="70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🛠 Step 1: Create Terraform Backend (State Storage)</a:t>
            </a:r>
            <a:endParaRPr lang="en-US" sz="2233" dirty="0"/>
          </a:p>
        </p:txBody>
      </p:sp>
      <p:sp>
        <p:nvSpPr>
          <p:cNvPr id="13" name="Text 8"/>
          <p:cNvSpPr/>
          <p:nvPr/>
        </p:nvSpPr>
        <p:spPr>
          <a:xfrm>
            <a:off x="806374" y="6457460"/>
            <a:ext cx="3885220" cy="35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⚠️ First Run Permission</a:t>
            </a:r>
            <a:endParaRPr lang="en-US" sz="2233" dirty="0"/>
          </a:p>
        </p:txBody>
      </p:sp>
      <p:sp>
        <p:nvSpPr>
          <p:cNvPr id="14" name="Text 9"/>
          <p:cNvSpPr/>
          <p:nvPr/>
        </p:nvSpPr>
        <p:spPr>
          <a:xfrm>
            <a:off x="5371904" y="3966779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05</a:t>
            </a:r>
            <a:endParaRPr lang="en-US" sz="2233" dirty="0"/>
          </a:p>
        </p:txBody>
      </p:sp>
      <p:sp>
        <p:nvSpPr>
          <p:cNvPr id="15" name="Text 10"/>
          <p:cNvSpPr/>
          <p:nvPr/>
        </p:nvSpPr>
        <p:spPr>
          <a:xfrm>
            <a:off x="5371904" y="4618661"/>
            <a:ext cx="3885220" cy="70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📦 Step 4: Create Variable Group</a:t>
            </a:r>
            <a:endParaRPr lang="en-US" sz="2233" dirty="0"/>
          </a:p>
        </p:txBody>
      </p:sp>
      <p:sp>
        <p:nvSpPr>
          <p:cNvPr id="16" name="Text 11"/>
          <p:cNvSpPr/>
          <p:nvPr/>
        </p:nvSpPr>
        <p:spPr>
          <a:xfrm>
            <a:off x="5371904" y="5805577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08</a:t>
            </a:r>
            <a:endParaRPr lang="en-US" sz="2233" dirty="0"/>
          </a:p>
        </p:txBody>
      </p:sp>
      <p:sp>
        <p:nvSpPr>
          <p:cNvPr id="17" name="Text 12"/>
          <p:cNvSpPr/>
          <p:nvPr/>
        </p:nvSpPr>
        <p:spPr>
          <a:xfrm>
            <a:off x="5371904" y="6457460"/>
            <a:ext cx="3885220" cy="35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✅ Summary</a:t>
            </a:r>
            <a:endParaRPr lang="en-US" sz="2233" dirty="0"/>
          </a:p>
        </p:txBody>
      </p:sp>
      <p:sp>
        <p:nvSpPr>
          <p:cNvPr id="18" name="Text 13"/>
          <p:cNvSpPr/>
          <p:nvPr/>
        </p:nvSpPr>
        <p:spPr>
          <a:xfrm>
            <a:off x="9937434" y="2127980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03</a:t>
            </a:r>
            <a:endParaRPr lang="en-US" sz="2233" dirty="0"/>
          </a:p>
        </p:txBody>
      </p:sp>
      <p:sp>
        <p:nvSpPr>
          <p:cNvPr id="19" name="Text 14"/>
          <p:cNvSpPr/>
          <p:nvPr/>
        </p:nvSpPr>
        <p:spPr>
          <a:xfrm>
            <a:off x="9937434" y="2779862"/>
            <a:ext cx="3885220" cy="70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🔐 Step 2: Create Key Vault &amp; Secrets</a:t>
            </a:r>
            <a:endParaRPr lang="en-US" sz="2233" dirty="0"/>
          </a:p>
        </p:txBody>
      </p:sp>
      <p:sp>
        <p:nvSpPr>
          <p:cNvPr id="20" name="Text 15"/>
          <p:cNvSpPr/>
          <p:nvPr/>
        </p:nvSpPr>
        <p:spPr>
          <a:xfrm>
            <a:off x="9937434" y="3966779"/>
            <a:ext cx="3885220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3349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06</a:t>
            </a:r>
            <a:endParaRPr lang="en-US" sz="2233" dirty="0"/>
          </a:p>
        </p:txBody>
      </p:sp>
      <p:sp>
        <p:nvSpPr>
          <p:cNvPr id="21" name="Text 16"/>
          <p:cNvSpPr/>
          <p:nvPr/>
        </p:nvSpPr>
        <p:spPr>
          <a:xfrm>
            <a:off x="9937434" y="4618661"/>
            <a:ext cx="3885220" cy="3542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1540FF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🚀 Step 5: Run Pipeline</a:t>
            </a:r>
            <a:endParaRPr lang="en-US" sz="2233" dirty="0"/>
          </a:p>
        </p:txBody>
      </p:sp>
      <p:sp>
        <p:nvSpPr>
          <p:cNvPr id="22" name="Text 17"/>
          <p:cNvSpPr/>
          <p:nvPr/>
        </p:nvSpPr>
        <p:spPr>
          <a:xfrm>
            <a:off x="9937434" y="5805577"/>
            <a:ext cx="3885220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endParaRPr lang="en-US" sz="178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05" cy="82311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131" y="5043904"/>
            <a:ext cx="3920706" cy="83597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476" y="5043904"/>
            <a:ext cx="3920902" cy="83597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8131" y="3315092"/>
            <a:ext cx="8068247" cy="87852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101" y="5121738"/>
            <a:ext cx="3183735" cy="83597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2446" y="5121738"/>
            <a:ext cx="3183931" cy="83597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131" y="5043904"/>
            <a:ext cx="510331" cy="51033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5476" y="5043904"/>
            <a:ext cx="510331" cy="510331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68131" y="2351286"/>
            <a:ext cx="8068247" cy="708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📋 Prerequisites</a:t>
            </a:r>
            <a:endParaRPr lang="en-US" sz="4465" dirty="0"/>
          </a:p>
        </p:txBody>
      </p:sp>
      <p:sp>
        <p:nvSpPr>
          <p:cNvPr id="12" name="Text 1"/>
          <p:cNvSpPr/>
          <p:nvPr/>
        </p:nvSpPr>
        <p:spPr>
          <a:xfrm>
            <a:off x="5994770" y="3541732"/>
            <a:ext cx="7614968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Azure CLI installed and logged in</a:t>
            </a:r>
            <a:endParaRPr lang="en-US" sz="2233" dirty="0"/>
          </a:p>
        </p:txBody>
      </p:sp>
      <p:sp>
        <p:nvSpPr>
          <p:cNvPr id="13" name="Text 2"/>
          <p:cNvSpPr/>
          <p:nvPr/>
        </p:nvSpPr>
        <p:spPr>
          <a:xfrm>
            <a:off x="5768131" y="4448681"/>
            <a:ext cx="8068247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az login</a:t>
            </a:r>
            <a:endParaRPr lang="en-US" sz="1786" dirty="0"/>
          </a:p>
        </p:txBody>
      </p:sp>
      <p:sp>
        <p:nvSpPr>
          <p:cNvPr id="14" name="Text 3"/>
          <p:cNvSpPr/>
          <p:nvPr/>
        </p:nvSpPr>
        <p:spPr>
          <a:xfrm>
            <a:off x="5956344" y="5073312"/>
            <a:ext cx="133709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1</a:t>
            </a:r>
            <a:endParaRPr lang="en-US" sz="2679" dirty="0"/>
          </a:p>
        </p:txBody>
      </p:sp>
      <p:sp>
        <p:nvSpPr>
          <p:cNvPr id="15" name="Text 4"/>
          <p:cNvSpPr/>
          <p:nvPr/>
        </p:nvSpPr>
        <p:spPr>
          <a:xfrm>
            <a:off x="6505101" y="5121738"/>
            <a:ext cx="3183735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Azure DevOps project created</a:t>
            </a:r>
            <a:endParaRPr lang="en-US" sz="1786" dirty="0"/>
          </a:p>
        </p:txBody>
      </p:sp>
      <p:sp>
        <p:nvSpPr>
          <p:cNvPr id="16" name="Text 5"/>
          <p:cNvSpPr/>
          <p:nvPr/>
        </p:nvSpPr>
        <p:spPr>
          <a:xfrm>
            <a:off x="10074869" y="5073312"/>
            <a:ext cx="191350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2</a:t>
            </a:r>
            <a:endParaRPr lang="en-US" sz="2679" dirty="0"/>
          </a:p>
        </p:txBody>
      </p:sp>
      <p:sp>
        <p:nvSpPr>
          <p:cNvPr id="17" name="Text 6"/>
          <p:cNvSpPr/>
          <p:nvPr/>
        </p:nvSpPr>
        <p:spPr>
          <a:xfrm>
            <a:off x="10652446" y="5121738"/>
            <a:ext cx="3183931" cy="680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Bash terminal (WSL, Linux, or Git Bash)</a:t>
            </a:r>
            <a:endParaRPr lang="en-US" sz="178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826" y="3548986"/>
            <a:ext cx="13042748" cy="141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🛠 Step 1: Create Terraform Backend (State Storage)</a:t>
            </a:r>
            <a:endParaRPr lang="en-US" sz="4465" dirty="0"/>
          </a:p>
        </p:txBody>
      </p:sp>
      <p:sp>
        <p:nvSpPr>
          <p:cNvPr id="5" name="Text 1"/>
          <p:cNvSpPr/>
          <p:nvPr/>
        </p:nvSpPr>
        <p:spPr>
          <a:xfrm>
            <a:off x="793826" y="5221530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Goal: Create the Resource Group and Storage Account where Terraform will save its state file (petclinic.tfstate).</a:t>
            </a:r>
            <a:endParaRPr lang="en-US" sz="1786" dirty="0"/>
          </a:p>
        </p:txBody>
      </p:sp>
      <p:sp>
        <p:nvSpPr>
          <p:cNvPr id="6" name="Text 2"/>
          <p:cNvSpPr/>
          <p:nvPr/>
        </p:nvSpPr>
        <p:spPr>
          <a:xfrm>
            <a:off x="793826" y="5816752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chmod +x create-backend.sh ./create-backend.sh</a:t>
            </a:r>
            <a:endParaRPr lang="en-US" sz="1786" dirty="0"/>
          </a:p>
        </p:txBody>
      </p:sp>
      <p:sp>
        <p:nvSpPr>
          <p:cNvPr id="7" name="Text 3"/>
          <p:cNvSpPr/>
          <p:nvPr/>
        </p:nvSpPr>
        <p:spPr>
          <a:xfrm>
            <a:off x="793826" y="6411975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Copy the Storage Account name from the output.</a:t>
            </a:r>
            <a:endParaRPr lang="en-US" sz="178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9" y="4306738"/>
            <a:ext cx="4259292" cy="158098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456" y="4306738"/>
            <a:ext cx="4259292" cy="158098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633" y="4306738"/>
            <a:ext cx="4259489" cy="158098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53" y="5182123"/>
            <a:ext cx="3869143" cy="51052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0530" y="5182123"/>
            <a:ext cx="3869143" cy="51052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4707" y="5182123"/>
            <a:ext cx="3869339" cy="51052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53" y="4501812"/>
            <a:ext cx="510331" cy="51033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0530" y="4501812"/>
            <a:ext cx="510331" cy="51033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707" y="4501812"/>
            <a:ext cx="510331" cy="510331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793826" y="3149818"/>
            <a:ext cx="13042748" cy="53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186"/>
              </a:lnSpc>
              <a:buNone/>
            </a:pPr>
            <a:r>
              <a:rPr lang="en-US" sz="3349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🔐 Step 2: Create Key Vault &amp; Secrets</a:t>
            </a:r>
            <a:endParaRPr lang="en-US" sz="3349" dirty="0"/>
          </a:p>
        </p:txBody>
      </p:sp>
      <p:sp>
        <p:nvSpPr>
          <p:cNvPr id="14" name="Text 1"/>
          <p:cNvSpPr/>
          <p:nvPr/>
        </p:nvSpPr>
        <p:spPr>
          <a:xfrm>
            <a:off x="793826" y="3872672"/>
            <a:ext cx="13042748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Update create-keyvault-and-secrets.sh:</a:t>
            </a:r>
            <a:endParaRPr lang="en-US" sz="1340" dirty="0"/>
          </a:p>
        </p:txBody>
      </p:sp>
      <p:sp>
        <p:nvSpPr>
          <p:cNvPr id="15" name="Text 2"/>
          <p:cNvSpPr/>
          <p:nvPr/>
        </p:nvSpPr>
        <p:spPr>
          <a:xfrm>
            <a:off x="1186132" y="4606310"/>
            <a:ext cx="90381" cy="301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808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1</a:t>
            </a:r>
            <a:endParaRPr lang="en-US" sz="1808" dirty="0"/>
          </a:p>
        </p:txBody>
      </p:sp>
      <p:sp>
        <p:nvSpPr>
          <p:cNvPr id="16" name="Text 3"/>
          <p:cNvSpPr/>
          <p:nvPr/>
        </p:nvSpPr>
        <p:spPr>
          <a:xfrm>
            <a:off x="976353" y="5182123"/>
            <a:ext cx="3869143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KV_NAME (globally unique)</a:t>
            </a:r>
            <a:endParaRPr lang="en-US" sz="1340" dirty="0"/>
          </a:p>
        </p:txBody>
      </p:sp>
      <p:sp>
        <p:nvSpPr>
          <p:cNvPr id="17" name="Text 4"/>
          <p:cNvSpPr/>
          <p:nvPr/>
        </p:nvSpPr>
        <p:spPr>
          <a:xfrm>
            <a:off x="793826" y="6066526"/>
            <a:ext cx="13042748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Run:</a:t>
            </a:r>
            <a:endParaRPr lang="en-US" sz="1340" dirty="0"/>
          </a:p>
        </p:txBody>
      </p:sp>
      <p:sp>
        <p:nvSpPr>
          <p:cNvPr id="18" name="Text 5"/>
          <p:cNvSpPr/>
          <p:nvPr/>
        </p:nvSpPr>
        <p:spPr>
          <a:xfrm>
            <a:off x="793826" y="6513139"/>
            <a:ext cx="13042748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chmod +x create-keyvault-and-secrets.sh ./create-keyvault-and-secrets.sh</a:t>
            </a:r>
            <a:endParaRPr lang="en-US" sz="1340" dirty="0"/>
          </a:p>
        </p:txBody>
      </p:sp>
      <p:sp>
        <p:nvSpPr>
          <p:cNvPr id="19" name="Text 6"/>
          <p:cNvSpPr/>
          <p:nvPr/>
        </p:nvSpPr>
        <p:spPr>
          <a:xfrm>
            <a:off x="793826" y="6959752"/>
            <a:ext cx="13042748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Verify in Azure Portal → Key Vaults.</a:t>
            </a:r>
            <a:endParaRPr lang="en-US" sz="1340" dirty="0"/>
          </a:p>
        </p:txBody>
      </p:sp>
      <p:sp>
        <p:nvSpPr>
          <p:cNvPr id="20" name="Text 7"/>
          <p:cNvSpPr/>
          <p:nvPr/>
        </p:nvSpPr>
        <p:spPr>
          <a:xfrm>
            <a:off x="5570900" y="4606310"/>
            <a:ext cx="129200" cy="301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808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2</a:t>
            </a:r>
            <a:endParaRPr lang="en-US" sz="1808" dirty="0"/>
          </a:p>
        </p:txBody>
      </p:sp>
      <p:sp>
        <p:nvSpPr>
          <p:cNvPr id="21" name="Text 8"/>
          <p:cNvSpPr/>
          <p:nvPr/>
        </p:nvSpPr>
        <p:spPr>
          <a:xfrm>
            <a:off x="5380530" y="5182123"/>
            <a:ext cx="3869143" cy="25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STORAGE_ACCOUNT (from Step 1)</a:t>
            </a:r>
            <a:endParaRPr lang="en-US" sz="1340" dirty="0"/>
          </a:p>
        </p:txBody>
      </p:sp>
      <p:sp>
        <p:nvSpPr>
          <p:cNvPr id="22" name="Text 9"/>
          <p:cNvSpPr/>
          <p:nvPr/>
        </p:nvSpPr>
        <p:spPr>
          <a:xfrm>
            <a:off x="9972136" y="4606310"/>
            <a:ext cx="135082" cy="3011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808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3</a:t>
            </a:r>
            <a:endParaRPr lang="en-US" sz="1808" dirty="0"/>
          </a:p>
        </p:txBody>
      </p:sp>
      <p:sp>
        <p:nvSpPr>
          <p:cNvPr id="23" name="Text 10"/>
          <p:cNvSpPr/>
          <p:nvPr/>
        </p:nvSpPr>
        <p:spPr>
          <a:xfrm>
            <a:off x="9784707" y="5182123"/>
            <a:ext cx="3869339" cy="510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9"/>
              </a:lnSpc>
              <a:buNone/>
            </a:pPr>
            <a:r>
              <a:rPr lang="en-US" sz="1340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SERVICE_CONN (Azure DevOps connection name)</a:t>
            </a:r>
            <a:endParaRPr lang="en-US" sz="13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05" cy="82311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131" y="3851106"/>
            <a:ext cx="2538323" cy="145511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131" y="5532865"/>
            <a:ext cx="2538323" cy="171018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093" y="3851106"/>
            <a:ext cx="2538323" cy="14551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093" y="5532865"/>
            <a:ext cx="2538323" cy="171018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98055" y="3851106"/>
            <a:ext cx="2538323" cy="145511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101" y="3928940"/>
            <a:ext cx="1801352" cy="145511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101" y="5610699"/>
            <a:ext cx="1801352" cy="171018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0063" y="3928940"/>
            <a:ext cx="1801352" cy="145511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0063" y="5610699"/>
            <a:ext cx="1801352" cy="171018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35025" y="3928940"/>
            <a:ext cx="1801352" cy="145511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8131" y="3851106"/>
            <a:ext cx="510331" cy="51033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8131" y="5532865"/>
            <a:ext cx="510331" cy="510331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33093" y="3851106"/>
            <a:ext cx="510331" cy="510331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3093" y="5532865"/>
            <a:ext cx="510331" cy="510331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98055" y="3851106"/>
            <a:ext cx="510331" cy="510331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5768131" y="988117"/>
            <a:ext cx="8068247" cy="141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🔌 Step 3: Create Service Connection</a:t>
            </a:r>
            <a:endParaRPr lang="en-US" sz="4465" dirty="0"/>
          </a:p>
        </p:txBody>
      </p:sp>
      <p:sp>
        <p:nvSpPr>
          <p:cNvPr id="20" name="Text 1"/>
          <p:cNvSpPr/>
          <p:nvPr/>
        </p:nvSpPr>
        <p:spPr>
          <a:xfrm>
            <a:off x="5768131" y="2660661"/>
            <a:ext cx="8068247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Azure DevOps → Project Settings → Pipelines → Service Connections</a:t>
            </a:r>
            <a:endParaRPr lang="en-US" sz="1786" dirty="0"/>
          </a:p>
        </p:txBody>
      </p:sp>
      <p:sp>
        <p:nvSpPr>
          <p:cNvPr id="21" name="Text 2"/>
          <p:cNvSpPr/>
          <p:nvPr/>
        </p:nvSpPr>
        <p:spPr>
          <a:xfrm>
            <a:off x="5768131" y="3255884"/>
            <a:ext cx="8068247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Create:</a:t>
            </a:r>
            <a:endParaRPr lang="en-US" sz="1786" dirty="0"/>
          </a:p>
        </p:txBody>
      </p:sp>
      <p:sp>
        <p:nvSpPr>
          <p:cNvPr id="22" name="Text 3"/>
          <p:cNvSpPr/>
          <p:nvPr/>
        </p:nvSpPr>
        <p:spPr>
          <a:xfrm>
            <a:off x="5956344" y="3880514"/>
            <a:ext cx="133709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1</a:t>
            </a:r>
            <a:endParaRPr lang="en-US" sz="2679" dirty="0"/>
          </a:p>
        </p:txBody>
      </p:sp>
      <p:sp>
        <p:nvSpPr>
          <p:cNvPr id="23" name="Text 4"/>
          <p:cNvSpPr/>
          <p:nvPr/>
        </p:nvSpPr>
        <p:spPr>
          <a:xfrm>
            <a:off x="6505101" y="3928940"/>
            <a:ext cx="1801352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Type</a:t>
            </a:r>
            <a:endParaRPr lang="en-US" sz="2233" dirty="0"/>
          </a:p>
        </p:txBody>
      </p:sp>
      <p:sp>
        <p:nvSpPr>
          <p:cNvPr id="24" name="Text 5"/>
          <p:cNvSpPr/>
          <p:nvPr/>
        </p:nvSpPr>
        <p:spPr>
          <a:xfrm>
            <a:off x="6505101" y="4462993"/>
            <a:ext cx="1801352" cy="680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Azure Resource Manager</a:t>
            </a:r>
            <a:endParaRPr lang="en-US" sz="1786" dirty="0"/>
          </a:p>
        </p:txBody>
      </p:sp>
      <p:sp>
        <p:nvSpPr>
          <p:cNvPr id="25" name="Text 6"/>
          <p:cNvSpPr/>
          <p:nvPr/>
        </p:nvSpPr>
        <p:spPr>
          <a:xfrm>
            <a:off x="5923602" y="5562273"/>
            <a:ext cx="199388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4</a:t>
            </a:r>
            <a:endParaRPr lang="en-US" sz="2679" dirty="0"/>
          </a:p>
        </p:txBody>
      </p:sp>
      <p:sp>
        <p:nvSpPr>
          <p:cNvPr id="26" name="Text 7"/>
          <p:cNvSpPr/>
          <p:nvPr/>
        </p:nvSpPr>
        <p:spPr>
          <a:xfrm>
            <a:off x="6505101" y="5610699"/>
            <a:ext cx="1801352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Name</a:t>
            </a:r>
            <a:endParaRPr lang="en-US" sz="2233" dirty="0"/>
          </a:p>
        </p:txBody>
      </p:sp>
      <p:sp>
        <p:nvSpPr>
          <p:cNvPr id="27" name="Text 8"/>
          <p:cNvSpPr/>
          <p:nvPr/>
        </p:nvSpPr>
        <p:spPr>
          <a:xfrm>
            <a:off x="6505101" y="6144752"/>
            <a:ext cx="1801352" cy="1020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terraform-service-connection-2</a:t>
            </a:r>
            <a:endParaRPr lang="en-US" sz="1786" dirty="0"/>
          </a:p>
        </p:txBody>
      </p:sp>
      <p:sp>
        <p:nvSpPr>
          <p:cNvPr id="28" name="Text 9"/>
          <p:cNvSpPr/>
          <p:nvPr/>
        </p:nvSpPr>
        <p:spPr>
          <a:xfrm>
            <a:off x="8692486" y="3880514"/>
            <a:ext cx="191350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2</a:t>
            </a:r>
            <a:endParaRPr lang="en-US" sz="2679" dirty="0"/>
          </a:p>
        </p:txBody>
      </p:sp>
      <p:sp>
        <p:nvSpPr>
          <p:cNvPr id="29" name="Text 10"/>
          <p:cNvSpPr/>
          <p:nvPr/>
        </p:nvSpPr>
        <p:spPr>
          <a:xfrm>
            <a:off x="9270063" y="3928940"/>
            <a:ext cx="1801352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Auth</a:t>
            </a:r>
            <a:endParaRPr lang="en-US" sz="2233" dirty="0"/>
          </a:p>
        </p:txBody>
      </p:sp>
      <p:sp>
        <p:nvSpPr>
          <p:cNvPr id="30" name="Text 11"/>
          <p:cNvSpPr/>
          <p:nvPr/>
        </p:nvSpPr>
        <p:spPr>
          <a:xfrm>
            <a:off x="9270063" y="4462993"/>
            <a:ext cx="1801352" cy="680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Service principal (automatic)</a:t>
            </a:r>
            <a:endParaRPr lang="en-US" sz="1786" dirty="0"/>
          </a:p>
        </p:txBody>
      </p:sp>
      <p:sp>
        <p:nvSpPr>
          <p:cNvPr id="31" name="Text 12"/>
          <p:cNvSpPr/>
          <p:nvPr/>
        </p:nvSpPr>
        <p:spPr>
          <a:xfrm>
            <a:off x="8686604" y="5562273"/>
            <a:ext cx="203113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5</a:t>
            </a:r>
            <a:endParaRPr lang="en-US" sz="2679" dirty="0"/>
          </a:p>
        </p:txBody>
      </p:sp>
      <p:sp>
        <p:nvSpPr>
          <p:cNvPr id="32" name="Text 13"/>
          <p:cNvSpPr/>
          <p:nvPr/>
        </p:nvSpPr>
        <p:spPr>
          <a:xfrm>
            <a:off x="9270063" y="5610699"/>
            <a:ext cx="1801352" cy="4252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Grant access</a:t>
            </a:r>
            <a:endParaRPr lang="en-US" sz="2233" dirty="0"/>
          </a:p>
        </p:txBody>
      </p:sp>
      <p:sp>
        <p:nvSpPr>
          <p:cNvPr id="33" name="Text 14"/>
          <p:cNvSpPr/>
          <p:nvPr/>
        </p:nvSpPr>
        <p:spPr>
          <a:xfrm>
            <a:off x="9270063" y="6144752"/>
            <a:ext cx="1801352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Enabled</a:t>
            </a:r>
            <a:endParaRPr lang="en-US" sz="1786" dirty="0"/>
          </a:p>
        </p:txBody>
      </p:sp>
      <p:sp>
        <p:nvSpPr>
          <p:cNvPr id="34" name="Text 15"/>
          <p:cNvSpPr/>
          <p:nvPr/>
        </p:nvSpPr>
        <p:spPr>
          <a:xfrm>
            <a:off x="11453134" y="3880514"/>
            <a:ext cx="200172" cy="451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215"/>
              </a:lnSpc>
              <a:buNone/>
            </a:pPr>
            <a:r>
              <a:rPr lang="en-US" sz="2679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3</a:t>
            </a:r>
            <a:endParaRPr lang="en-US" sz="2679" dirty="0"/>
          </a:p>
        </p:txBody>
      </p:sp>
      <p:sp>
        <p:nvSpPr>
          <p:cNvPr id="35" name="Text 16"/>
          <p:cNvSpPr/>
          <p:nvPr/>
        </p:nvSpPr>
        <p:spPr>
          <a:xfrm>
            <a:off x="12035025" y="3928940"/>
            <a:ext cx="1801352" cy="85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91"/>
              </a:lnSpc>
              <a:buNone/>
            </a:pPr>
            <a:r>
              <a:rPr lang="en-US" sz="2233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Resource Group</a:t>
            </a:r>
            <a:endParaRPr lang="en-US" sz="2233" dirty="0"/>
          </a:p>
        </p:txBody>
      </p:sp>
      <p:sp>
        <p:nvSpPr>
          <p:cNvPr id="36" name="Text 17"/>
          <p:cNvSpPr/>
          <p:nvPr/>
        </p:nvSpPr>
        <p:spPr>
          <a:xfrm>
            <a:off x="12035025" y="4888237"/>
            <a:ext cx="1801352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rg-tfstate</a:t>
            </a:r>
            <a:endParaRPr lang="en-US" sz="178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0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26" y="4214788"/>
            <a:ext cx="6447657" cy="121985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26" y="5582075"/>
            <a:ext cx="6447657" cy="121985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917" y="4214788"/>
            <a:ext cx="6447657" cy="121985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917" y="5582075"/>
            <a:ext cx="6447657" cy="121985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79" y="4460249"/>
            <a:ext cx="6472752" cy="98694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279" y="5827536"/>
            <a:ext cx="6472752" cy="9869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369" y="4460249"/>
            <a:ext cx="6472752" cy="98694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6369" y="5827536"/>
            <a:ext cx="6472752" cy="98694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1279" y="4386532"/>
            <a:ext cx="6472752" cy="9881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279" y="5753819"/>
            <a:ext cx="6472752" cy="98812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76369" y="4386532"/>
            <a:ext cx="6472752" cy="98812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76369" y="5753819"/>
            <a:ext cx="6472752" cy="98812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6407" y="4214788"/>
            <a:ext cx="442300" cy="4423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96407" y="5582075"/>
            <a:ext cx="442300" cy="4423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91497" y="4214788"/>
            <a:ext cx="442300" cy="4423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91497" y="5582075"/>
            <a:ext cx="442300" cy="442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93826" y="3201184"/>
            <a:ext cx="13042748" cy="4607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3628"/>
              </a:lnSpc>
              <a:buNone/>
            </a:pPr>
            <a:r>
              <a:rPr lang="en-US" sz="2902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📦 Step 4: Create Variable Group</a:t>
            </a:r>
            <a:endParaRPr lang="en-US" sz="2902" dirty="0"/>
          </a:p>
        </p:txBody>
      </p:sp>
      <p:sp>
        <p:nvSpPr>
          <p:cNvPr id="21" name="Text 1"/>
          <p:cNvSpPr/>
          <p:nvPr/>
        </p:nvSpPr>
        <p:spPr>
          <a:xfrm>
            <a:off x="793826" y="3827776"/>
            <a:ext cx="13042748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Pipelines → Library → Variable Groups</a:t>
            </a:r>
            <a:endParaRPr lang="en-US" sz="1161" dirty="0"/>
          </a:p>
        </p:txBody>
      </p:sp>
      <p:sp>
        <p:nvSpPr>
          <p:cNvPr id="22" name="Text 2"/>
          <p:cNvSpPr/>
          <p:nvPr/>
        </p:nvSpPr>
        <p:spPr>
          <a:xfrm>
            <a:off x="953807" y="4706494"/>
            <a:ext cx="6127696" cy="276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451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Name</a:t>
            </a:r>
            <a:endParaRPr lang="en-US" sz="1451" dirty="0"/>
          </a:p>
        </p:txBody>
      </p:sp>
      <p:sp>
        <p:nvSpPr>
          <p:cNvPr id="23" name="Text 3"/>
          <p:cNvSpPr/>
          <p:nvPr/>
        </p:nvSpPr>
        <p:spPr>
          <a:xfrm>
            <a:off x="953807" y="5053511"/>
            <a:ext cx="6127696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terraform-prod-vars</a:t>
            </a:r>
            <a:endParaRPr lang="en-US" sz="1161" dirty="0"/>
          </a:p>
        </p:txBody>
      </p:sp>
      <p:sp>
        <p:nvSpPr>
          <p:cNvPr id="24" name="Text 4"/>
          <p:cNvSpPr/>
          <p:nvPr/>
        </p:nvSpPr>
        <p:spPr>
          <a:xfrm>
            <a:off x="3982659" y="4316737"/>
            <a:ext cx="69599" cy="238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1</a:t>
            </a:r>
            <a:endParaRPr lang="en-US" sz="1393" dirty="0"/>
          </a:p>
        </p:txBody>
      </p:sp>
      <p:sp>
        <p:nvSpPr>
          <p:cNvPr id="25" name="Text 5"/>
          <p:cNvSpPr/>
          <p:nvPr/>
        </p:nvSpPr>
        <p:spPr>
          <a:xfrm>
            <a:off x="953807" y="6073780"/>
            <a:ext cx="6127696" cy="276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451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Service Connection</a:t>
            </a:r>
            <a:endParaRPr lang="en-US" sz="1451" dirty="0"/>
          </a:p>
        </p:txBody>
      </p:sp>
      <p:sp>
        <p:nvSpPr>
          <p:cNvPr id="26" name="Text 6"/>
          <p:cNvSpPr/>
          <p:nvPr/>
        </p:nvSpPr>
        <p:spPr>
          <a:xfrm>
            <a:off x="953807" y="6420798"/>
            <a:ext cx="6127696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terraform-service-connection-2</a:t>
            </a:r>
            <a:endParaRPr lang="en-US" sz="1161" dirty="0"/>
          </a:p>
        </p:txBody>
      </p:sp>
      <p:sp>
        <p:nvSpPr>
          <p:cNvPr id="27" name="Text 7"/>
          <p:cNvSpPr/>
          <p:nvPr/>
        </p:nvSpPr>
        <p:spPr>
          <a:xfrm>
            <a:off x="3965406" y="5684023"/>
            <a:ext cx="104105" cy="238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3</a:t>
            </a:r>
            <a:endParaRPr lang="en-US" sz="1393" dirty="0"/>
          </a:p>
        </p:txBody>
      </p:sp>
      <p:sp>
        <p:nvSpPr>
          <p:cNvPr id="28" name="Text 8"/>
          <p:cNvSpPr/>
          <p:nvPr/>
        </p:nvSpPr>
        <p:spPr>
          <a:xfrm>
            <a:off x="793826" y="6967791"/>
            <a:ext cx="13042748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Add all secrets.</a:t>
            </a:r>
            <a:endParaRPr lang="en-US" sz="1161" dirty="0"/>
          </a:p>
        </p:txBody>
      </p:sp>
      <p:sp>
        <p:nvSpPr>
          <p:cNvPr id="29" name="Text 9"/>
          <p:cNvSpPr/>
          <p:nvPr/>
        </p:nvSpPr>
        <p:spPr>
          <a:xfrm>
            <a:off x="7548897" y="4706494"/>
            <a:ext cx="6127696" cy="276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451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Link to Key Vault</a:t>
            </a:r>
            <a:endParaRPr lang="en-US" sz="1451" dirty="0"/>
          </a:p>
        </p:txBody>
      </p:sp>
      <p:sp>
        <p:nvSpPr>
          <p:cNvPr id="30" name="Text 10"/>
          <p:cNvSpPr/>
          <p:nvPr/>
        </p:nvSpPr>
        <p:spPr>
          <a:xfrm>
            <a:off x="7548897" y="5053511"/>
            <a:ext cx="6127696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Enabled</a:t>
            </a:r>
            <a:endParaRPr lang="en-US" sz="1161" dirty="0"/>
          </a:p>
        </p:txBody>
      </p:sp>
      <p:sp>
        <p:nvSpPr>
          <p:cNvPr id="31" name="Text 11"/>
          <p:cNvSpPr/>
          <p:nvPr/>
        </p:nvSpPr>
        <p:spPr>
          <a:xfrm>
            <a:off x="7548897" y="6073780"/>
            <a:ext cx="6127696" cy="2764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451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Key Vault</a:t>
            </a:r>
            <a:endParaRPr lang="en-US" sz="1451" dirty="0"/>
          </a:p>
        </p:txBody>
      </p:sp>
      <p:sp>
        <p:nvSpPr>
          <p:cNvPr id="32" name="Text 12"/>
          <p:cNvSpPr/>
          <p:nvPr/>
        </p:nvSpPr>
        <p:spPr>
          <a:xfrm>
            <a:off x="7548897" y="6420798"/>
            <a:ext cx="6127696" cy="22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741"/>
              </a:lnSpc>
              <a:buNone/>
            </a:pPr>
            <a:r>
              <a:rPr lang="en-US" sz="1161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kv-petclinic-prod-xoa</a:t>
            </a:r>
            <a:endParaRPr lang="en-US" sz="1161" dirty="0"/>
          </a:p>
        </p:txBody>
      </p:sp>
      <p:sp>
        <p:nvSpPr>
          <p:cNvPr id="33" name="Text 13"/>
          <p:cNvSpPr/>
          <p:nvPr/>
        </p:nvSpPr>
        <p:spPr>
          <a:xfrm>
            <a:off x="10562849" y="4316737"/>
            <a:ext cx="99400" cy="238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2</a:t>
            </a:r>
            <a:endParaRPr lang="en-US" sz="1393" dirty="0"/>
          </a:p>
        </p:txBody>
      </p:sp>
      <p:sp>
        <p:nvSpPr>
          <p:cNvPr id="34" name="Text 14"/>
          <p:cNvSpPr/>
          <p:nvPr/>
        </p:nvSpPr>
        <p:spPr>
          <a:xfrm>
            <a:off x="10560693" y="5684023"/>
            <a:ext cx="103713" cy="2384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4</a:t>
            </a:r>
            <a:endParaRPr lang="en-US" sz="139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2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826" y="3903257"/>
            <a:ext cx="13042748" cy="708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🚀 Step 5: Run Pipeline</a:t>
            </a:r>
            <a:endParaRPr lang="en-US" sz="4465" dirty="0"/>
          </a:p>
        </p:txBody>
      </p:sp>
      <p:sp>
        <p:nvSpPr>
          <p:cNvPr id="5" name="Text 1"/>
          <p:cNvSpPr/>
          <p:nvPr/>
        </p:nvSpPr>
        <p:spPr>
          <a:xfrm>
            <a:off x="793826" y="4867063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Ensure azure-pipelines.yml:</a:t>
            </a:r>
            <a:endParaRPr lang="en-US" sz="1786" dirty="0"/>
          </a:p>
        </p:txBody>
      </p:sp>
      <p:sp>
        <p:nvSpPr>
          <p:cNvPr id="6" name="Text 2"/>
          <p:cNvSpPr/>
          <p:nvPr/>
        </p:nvSpPr>
        <p:spPr>
          <a:xfrm>
            <a:off x="793826" y="5462285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variables: - name: azureServiceConnection value: 'terraform-service-connection-2' - group: terraform-prod-vars</a:t>
            </a:r>
            <a:endParaRPr lang="en-US" sz="1786" dirty="0"/>
          </a:p>
        </p:txBody>
      </p:sp>
      <p:sp>
        <p:nvSpPr>
          <p:cNvPr id="7" name="Text 3"/>
          <p:cNvSpPr/>
          <p:nvPr/>
        </p:nvSpPr>
        <p:spPr>
          <a:xfrm>
            <a:off x="793826" y="6057508"/>
            <a:ext cx="13042748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Push code and run pipeline.</a:t>
            </a:r>
            <a:endParaRPr lang="en-US" sz="178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02" y="0"/>
            <a:ext cx="5222902" cy="823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826" y="3336070"/>
            <a:ext cx="8068247" cy="708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⚠️ First Run Permission</a:t>
            </a:r>
            <a:endParaRPr lang="en-US" sz="4465" dirty="0"/>
          </a:p>
        </p:txBody>
      </p:sp>
      <p:sp>
        <p:nvSpPr>
          <p:cNvPr id="5" name="Text 1"/>
          <p:cNvSpPr/>
          <p:nvPr/>
        </p:nvSpPr>
        <p:spPr>
          <a:xfrm>
            <a:off x="793826" y="4299876"/>
            <a:ext cx="8068247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Light" pitchFamily="34" charset="0"/>
                <a:ea typeface="MiSans-Light" pitchFamily="34" charset="-122"/>
                <a:cs typeface="MiSans-Light" pitchFamily="34" charset="-120"/>
              </a:rPr>
              <a:t>Approve permission when prompted.</a:t>
            </a:r>
            <a:endParaRPr lang="en-US" sz="178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974305" cy="823116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036" y="3615448"/>
            <a:ext cx="3971092" cy="89381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036" y="4685712"/>
            <a:ext cx="3971092" cy="89381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577" y="3615448"/>
            <a:ext cx="3971092" cy="89381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0577" y="4685712"/>
            <a:ext cx="3971092" cy="89381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68131" y="2676737"/>
            <a:ext cx="8068247" cy="708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5581"/>
              </a:lnSpc>
              <a:buNone/>
            </a:pPr>
            <a:r>
              <a:rPr lang="en-US" sz="4465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✅ Summary</a:t>
            </a:r>
            <a:endParaRPr lang="en-US" sz="4465" dirty="0"/>
          </a:p>
        </p:txBody>
      </p:sp>
      <p:sp>
        <p:nvSpPr>
          <p:cNvPr id="9" name="Text 1"/>
          <p:cNvSpPr/>
          <p:nvPr/>
        </p:nvSpPr>
        <p:spPr>
          <a:xfrm>
            <a:off x="6019865" y="3892278"/>
            <a:ext cx="3417433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Secure backend</a:t>
            </a:r>
            <a:endParaRPr lang="en-US" sz="1786" dirty="0"/>
          </a:p>
        </p:txBody>
      </p:sp>
      <p:sp>
        <p:nvSpPr>
          <p:cNvPr id="10" name="Text 2"/>
          <p:cNvSpPr/>
          <p:nvPr/>
        </p:nvSpPr>
        <p:spPr>
          <a:xfrm>
            <a:off x="6019865" y="4962541"/>
            <a:ext cx="3417433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Automated authentication</a:t>
            </a:r>
            <a:endParaRPr lang="en-US" sz="1786" dirty="0"/>
          </a:p>
        </p:txBody>
      </p:sp>
      <p:sp>
        <p:nvSpPr>
          <p:cNvPr id="11" name="Text 3"/>
          <p:cNvSpPr/>
          <p:nvPr/>
        </p:nvSpPr>
        <p:spPr>
          <a:xfrm>
            <a:off x="10167407" y="3892278"/>
            <a:ext cx="3417433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Centralized secrets</a:t>
            </a:r>
            <a:endParaRPr lang="en-US" sz="1786" dirty="0"/>
          </a:p>
        </p:txBody>
      </p:sp>
      <p:sp>
        <p:nvSpPr>
          <p:cNvPr id="12" name="Text 4"/>
          <p:cNvSpPr/>
          <p:nvPr/>
        </p:nvSpPr>
        <p:spPr>
          <a:xfrm>
            <a:off x="10167407" y="4962541"/>
            <a:ext cx="3417433" cy="340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679"/>
              </a:lnSpc>
              <a:buNone/>
            </a:pPr>
            <a:r>
              <a:rPr lang="en-US" sz="1786" dirty="0">
                <a:solidFill>
                  <a:srgbClr val="000000"/>
                </a:solidFill>
                <a:latin typeface="MiSans-Regular" pitchFamily="34" charset="0"/>
                <a:ea typeface="MiSans-Regular" pitchFamily="34" charset="-122"/>
                <a:cs typeface="MiSans-Regular" pitchFamily="34" charset="-120"/>
              </a:rPr>
              <a:t>CI/CD ready</a:t>
            </a:r>
            <a:endParaRPr lang="en-US" sz="178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311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302" y="0"/>
            <a:ext cx="5222902" cy="823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826" y="3498796"/>
            <a:ext cx="8068247" cy="9783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702"/>
              </a:lnSpc>
              <a:buNone/>
            </a:pPr>
            <a:r>
              <a:rPr lang="en-US" sz="6162" dirty="0">
                <a:solidFill>
                  <a:srgbClr val="1540FF"/>
                </a:solidFill>
                <a:latin typeface="MiSans-Normal" pitchFamily="34" charset="0"/>
                <a:ea typeface="MiSans-Normal" pitchFamily="34" charset="-122"/>
                <a:cs typeface="MiSans-Normal" pitchFamily="34" charset="-120"/>
              </a:rPr>
              <a:t>Thank You</a:t>
            </a:r>
            <a:endParaRPr lang="en-US" sz="616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2026-02-07T03:44:26Z</dcterms:created>
  <dcterms:modified xsi:type="dcterms:W3CDTF">2026-02-07T03:44:26Z</dcterms:modified>
</cp:coreProperties>
</file>